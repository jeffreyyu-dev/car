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 i="0">
                <a:solidFill>
                  <a:srgbClr val="202327"/>
                </a:solidFill>
                <a:latin typeface="Calibri"/>
              </a:rPr>
              <a:t>WHAT'S ACTUALLY RUNNING 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1" dirty="0">
                <a:solidFill>
                  <a:srgbClr val="545B66"/>
                </a:solidFill>
                <a:latin typeface="Calibri"/>
              </a:rPr>
              <a:t>Two small systems, working together</a:t>
            </a:r>
            <a:r>
              <a:rPr lang="en-CA" sz="1350" b="0" i="1" dirty="0">
                <a:solidFill>
                  <a:srgbClr val="545B66"/>
                </a:solidFill>
                <a:latin typeface="Calibri"/>
              </a:rPr>
              <a:t> </a:t>
            </a:r>
            <a:r>
              <a:rPr sz="1350" b="0" i="1" dirty="0">
                <a:solidFill>
                  <a:srgbClr val="545B66"/>
                </a:solidFill>
                <a:latin typeface="Calibri"/>
              </a:rPr>
              <a:t>one in the car, one in the cloud.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4617720" cy="4526277"/>
          </a:xfrm>
          <a:prstGeom prst="rect">
            <a:avLst/>
          </a:prstGeom>
          <a:solidFill>
            <a:srgbClr val="ECEE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4617720" cy="530352"/>
          </a:xfrm>
          <a:prstGeom prst="rect">
            <a:avLst/>
          </a:prstGeom>
          <a:solidFill>
            <a:srgbClr val="2E3F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4617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 THE VEHICLE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911096"/>
            <a:ext cx="384048" cy="384048"/>
          </a:xfrm>
          <a:prstGeom prst="ellipse">
            <a:avLst/>
          </a:prstGeom>
          <a:solidFill>
            <a:srgbClr val="2E3F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856232"/>
            <a:ext cx="3657600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2327"/>
                </a:solidFill>
                <a:latin typeface="Calibri"/>
              </a:rPr>
              <a:t>Sensors &amp; driver profile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545B66"/>
                </a:solidFill>
                <a:latin typeface="Calibri"/>
              </a:rPr>
              <a:t>Reads engine signals (temperature, pressure, fault codes) and how experienced the driver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843783"/>
            <a:ext cx="4215384" cy="9525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9808" y="2953511"/>
            <a:ext cx="384048" cy="384048"/>
          </a:xfrm>
          <a:prstGeom prst="ellipse">
            <a:avLst/>
          </a:prstGeom>
          <a:solidFill>
            <a:srgbClr val="2E3F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898647"/>
            <a:ext cx="3657600" cy="551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202327"/>
                </a:solidFill>
                <a:latin typeface="Calibri"/>
              </a:rPr>
              <a:t>On-board assistant</a:t>
            </a:r>
          </a:p>
          <a:p>
            <a:pPr algn="l">
              <a:spcBef>
                <a:spcPts val="100"/>
              </a:spcBef>
            </a:pPr>
            <a:r>
              <a:rPr sz="1100" b="0" i="0" dirty="0">
                <a:solidFill>
                  <a:srgbClr val="545B66"/>
                </a:solidFill>
                <a:latin typeface="Calibri"/>
              </a:rPr>
              <a:t>Turns that into one short question</a:t>
            </a:r>
            <a:r>
              <a:rPr lang="en-CA" sz="1100" b="0" i="0" dirty="0">
                <a:solidFill>
                  <a:srgbClr val="545B66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545B66"/>
                </a:solidFill>
                <a:latin typeface="Calibri"/>
              </a:rPr>
              <a:t>no raw sensor data ever leaves the car.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886198"/>
            <a:ext cx="4215384" cy="9525"/>
          </a:xfrm>
          <a:prstGeom prst="rect">
            <a:avLst/>
          </a:prstGeom>
          <a:solidFill>
            <a:srgbClr val="C9CE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3995926"/>
            <a:ext cx="384048" cy="384048"/>
          </a:xfrm>
          <a:prstGeom prst="ellipse">
            <a:avLst/>
          </a:prstGeom>
          <a:solidFill>
            <a:srgbClr val="2E3F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941062"/>
            <a:ext cx="3657600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202327"/>
                </a:solidFill>
                <a:latin typeface="Calibri"/>
              </a:rPr>
              <a:t>Local memory</a:t>
            </a:r>
          </a:p>
          <a:p>
            <a:pPr algn="l">
              <a:spcBef>
                <a:spcPts val="100"/>
              </a:spcBef>
            </a:pPr>
            <a:r>
              <a:rPr sz="1100" b="0" i="0" dirty="0">
                <a:solidFill>
                  <a:srgbClr val="545B66"/>
                </a:solidFill>
                <a:latin typeface="Calibri"/>
              </a:rPr>
              <a:t>Remembers this driver's profile and recent history, refined a little more each trip.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001765"/>
            <a:ext cx="4215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2E3F6E"/>
                </a:solidFill>
                <a:latin typeface="Calibri"/>
              </a:rPr>
              <a:t>Learns each driver once during setup, then adapts on its 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5335" y="1143000"/>
            <a:ext cx="4617720" cy="4526277"/>
          </a:xfrm>
          <a:prstGeom prst="rect">
            <a:avLst/>
          </a:prstGeom>
          <a:solidFill>
            <a:srgbClr val="E9F2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25335" y="1143000"/>
            <a:ext cx="4617720" cy="530352"/>
          </a:xfrm>
          <a:prstGeom prst="rect">
            <a:avLst/>
          </a:prstGeom>
          <a:solidFill>
            <a:srgbClr val="2A7F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25335" y="1143000"/>
            <a:ext cx="4617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 THE CLOUD</a:t>
            </a:r>
          </a:p>
        </p:txBody>
      </p:sp>
      <p:sp>
        <p:nvSpPr>
          <p:cNvPr id="20" name="Oval 19"/>
          <p:cNvSpPr/>
          <p:nvPr/>
        </p:nvSpPr>
        <p:spPr>
          <a:xfrm>
            <a:off x="7226503" y="1911096"/>
            <a:ext cx="384048" cy="384048"/>
          </a:xfrm>
          <a:prstGeom prst="ellipse">
            <a:avLst/>
          </a:prstGeom>
          <a:solidFill>
            <a:srgbClr val="2A7F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5143" y="1856232"/>
            <a:ext cx="3657600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02327"/>
                </a:solidFill>
                <a:latin typeface="Calibri"/>
              </a:rPr>
              <a:t>Trusted knowledge base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545B66"/>
                </a:solidFill>
                <a:latin typeface="Calibri"/>
              </a:rPr>
              <a:t>Manufacturer guides, service records, and verified fixes, kept up to date.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6503" y="2843783"/>
            <a:ext cx="4215384" cy="9525"/>
          </a:xfrm>
          <a:prstGeom prst="rect">
            <a:avLst/>
          </a:prstGeom>
          <a:solidFill>
            <a:srgbClr val="C7DD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26503" y="2953511"/>
            <a:ext cx="384048" cy="384048"/>
          </a:xfrm>
          <a:prstGeom prst="ellipse">
            <a:avLst/>
          </a:prstGeom>
          <a:solidFill>
            <a:srgbClr val="2A7F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5143" y="2898647"/>
            <a:ext cx="3657600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202327"/>
                </a:solidFill>
                <a:latin typeface="Calibri"/>
              </a:rPr>
              <a:t>Cloud assistant</a:t>
            </a:r>
          </a:p>
          <a:p>
            <a:pPr algn="l">
              <a:spcBef>
                <a:spcPts val="100"/>
              </a:spcBef>
            </a:pPr>
            <a:r>
              <a:rPr sz="1100" b="0" i="0" dirty="0">
                <a:solidFill>
                  <a:srgbClr val="545B66"/>
                </a:solidFill>
                <a:latin typeface="Calibri"/>
              </a:rPr>
              <a:t>Compares the question with similar past cases, then writes a clear, personalized answer.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6503" y="3886198"/>
            <a:ext cx="4215384" cy="9525"/>
          </a:xfrm>
          <a:prstGeom prst="rect">
            <a:avLst/>
          </a:prstGeom>
          <a:solidFill>
            <a:srgbClr val="C7DD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6503" y="3995926"/>
            <a:ext cx="384048" cy="384048"/>
          </a:xfrm>
          <a:prstGeom prst="ellipse">
            <a:avLst/>
          </a:prstGeom>
          <a:solidFill>
            <a:srgbClr val="2A7F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5143" y="3941062"/>
            <a:ext cx="3657600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202327"/>
                </a:solidFill>
                <a:latin typeface="Calibri"/>
              </a:rPr>
              <a:t>Delivery decision</a:t>
            </a:r>
          </a:p>
          <a:p>
            <a:pPr algn="l">
              <a:spcBef>
                <a:spcPts val="100"/>
              </a:spcBef>
            </a:pPr>
            <a:r>
              <a:rPr sz="1100" b="0" i="0" dirty="0">
                <a:solidFill>
                  <a:srgbClr val="545B66"/>
                </a:solidFill>
                <a:latin typeface="Calibri"/>
              </a:rPr>
              <a:t>Chooses a dashboard alert, a reminder, or a simple tip, based on how urgent it 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6503" y="5001765"/>
            <a:ext cx="4215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>
                <a:solidFill>
                  <a:srgbClr val="2A7F6E"/>
                </a:solidFill>
                <a:latin typeface="Calibri"/>
              </a:rPr>
              <a:t>Gets a little smarter over time from real driver feedback.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66360" y="2953510"/>
            <a:ext cx="1858975" cy="0"/>
          </a:xfrm>
          <a:prstGeom prst="line">
            <a:avLst/>
          </a:prstGeom>
          <a:ln w="38100">
            <a:solidFill>
              <a:srgbClr val="2E3F6E"/>
            </a:solidFill>
            <a:tailEnd type="triangle" w="med" len="med"/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5326379" y="2724910"/>
            <a:ext cx="1538935" cy="457200"/>
          </a:xfrm>
          <a:prstGeom prst="roundRect">
            <a:avLst/>
          </a:prstGeom>
          <a:solidFill>
            <a:srgbClr val="2E3F6E"/>
          </a:solidFill>
          <a:ln>
            <a:noFill/>
          </a:ln>
          <a:effectLst/>
        </p:spPr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 short question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166360" y="4492444"/>
            <a:ext cx="1858975" cy="0"/>
          </a:xfrm>
          <a:prstGeom prst="line">
            <a:avLst/>
          </a:prstGeom>
          <a:ln w="38100">
            <a:solidFill>
              <a:srgbClr val="2A7F6E"/>
            </a:solidFill>
            <a:tailEnd type="triangle" w="med" len="med"/>
          </a:ln>
          <a:effectLst/>
        </p:spPr>
      </p:cxnSp>
      <p:sp>
        <p:nvSpPr>
          <p:cNvPr id="32" name="Rounded Rectangle 31"/>
          <p:cNvSpPr/>
          <p:nvPr/>
        </p:nvSpPr>
        <p:spPr>
          <a:xfrm>
            <a:off x="5326379" y="4263844"/>
            <a:ext cx="1538935" cy="457200"/>
          </a:xfrm>
          <a:prstGeom prst="roundRect">
            <a:avLst/>
          </a:prstGeom>
          <a:solidFill>
            <a:srgbClr val="2A7F6E"/>
          </a:solidFill>
          <a:ln>
            <a:noFill/>
          </a:ln>
          <a:effectLst/>
        </p:spPr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 personalized answer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3823" y="3558385"/>
            <a:ext cx="91440" cy="109728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50127" y="3485233"/>
            <a:ext cx="91440" cy="18288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96431" y="3412081"/>
            <a:ext cx="91440" cy="256032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27167" y="3759553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1">
                <a:solidFill>
                  <a:srgbClr val="545B66"/>
                </a:solidFill>
                <a:latin typeface="Calibri"/>
              </a:rPr>
              <a:t>works on a weak signal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943597"/>
            <a:ext cx="12191695" cy="914403"/>
          </a:xfrm>
          <a:prstGeom prst="rect">
            <a:avLst/>
          </a:prstGeom>
          <a:solidFill>
            <a:srgbClr val="202327"/>
          </a:solidFill>
          <a:ln>
            <a:noFill/>
          </a:ln>
          <a:effectLst/>
        </p:spPr>
        <p:txBody>
          <a:bodyPr wrap="square" lIns="457200" rIns="457200"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</a:rPr>
              <a:t>Sensor reading to personalized answer in about a minute or two </a:t>
            </a:r>
            <a:r>
              <a:rPr sz="1700" b="1" i="1" dirty="0">
                <a:solidFill>
                  <a:srgbClr val="C98A1E"/>
                </a:solidFill>
              </a:rPr>
              <a:t>even on a weak connection.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200</Words>
  <Application>Microsoft Macintosh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Jeffrey Yu</cp:lastModifiedBy>
  <cp:revision>2</cp:revision>
  <dcterms:created xsi:type="dcterms:W3CDTF">2013-01-27T09:14:16Z</dcterms:created>
  <dcterms:modified xsi:type="dcterms:W3CDTF">2026-08-17T02:14:33Z</dcterms:modified>
  <cp:category/>
</cp:coreProperties>
</file>