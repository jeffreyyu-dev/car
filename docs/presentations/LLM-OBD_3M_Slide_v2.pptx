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1" i="0">
                <a:solidFill>
                  <a:srgbClr val="202327"/>
                </a:solidFill>
                <a:latin typeface="Calibri"/>
              </a:rPr>
              <a:t>HOW IT WORKS,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0" i="1" dirty="0">
                <a:solidFill>
                  <a:srgbClr val="202327"/>
                </a:solidFill>
                <a:latin typeface="Calibri"/>
              </a:rPr>
              <a:t>From a strange noise under the hood to an answer that makes sense automatically.</a:t>
            </a:r>
          </a:p>
        </p:txBody>
      </p:sp>
      <p:sp>
        <p:nvSpPr>
          <p:cNvPr id="5" name="Oval 4"/>
          <p:cNvSpPr/>
          <p:nvPr/>
        </p:nvSpPr>
        <p:spPr>
          <a:xfrm>
            <a:off x="1363941" y="1325880"/>
            <a:ext cx="1280160" cy="1280160"/>
          </a:xfrm>
          <a:prstGeom prst="ellipse">
            <a:avLst/>
          </a:prstGeom>
          <a:solidFill>
            <a:srgbClr val="3B4C86"/>
          </a:solidFill>
          <a:ln w="381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79" y="2770632"/>
            <a:ext cx="2727883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3B4C86"/>
                </a:solidFill>
                <a:latin typeface="Calibri"/>
              </a:rPr>
              <a:t>NOTICE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" y="3136392"/>
            <a:ext cx="2508427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 dirty="0">
                <a:solidFill>
                  <a:srgbClr val="202327"/>
                </a:solidFill>
                <a:latin typeface="Calibri"/>
              </a:rPr>
              <a:t>The car's own sensors pick up something unusual before the driver even feels it.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17253" y="1965960"/>
            <a:ext cx="1301419" cy="0"/>
          </a:xfrm>
          <a:prstGeom prst="line">
            <a:avLst/>
          </a:prstGeom>
          <a:ln w="31750">
            <a:solidFill>
              <a:srgbClr val="B9B2A6"/>
            </a:solidFill>
            <a:tailEnd type="triangle" w="med" len="med"/>
          </a:ln>
          <a:effectLst/>
        </p:spPr>
      </p:cxnSp>
      <p:sp>
        <p:nvSpPr>
          <p:cNvPr id="9" name="Oval 8"/>
          <p:cNvSpPr/>
          <p:nvPr/>
        </p:nvSpPr>
        <p:spPr>
          <a:xfrm>
            <a:off x="4091824" y="1325880"/>
            <a:ext cx="1280160" cy="1280160"/>
          </a:xfrm>
          <a:prstGeom prst="ellipse">
            <a:avLst/>
          </a:prstGeom>
          <a:solidFill>
            <a:srgbClr val="D96A55"/>
          </a:solidFill>
          <a:ln w="381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7962" y="2770632"/>
            <a:ext cx="2727883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D96A55"/>
                </a:solidFill>
                <a:latin typeface="Calibri"/>
              </a:rPr>
              <a:t>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7690" y="3136392"/>
            <a:ext cx="2508427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 dirty="0">
                <a:solidFill>
                  <a:srgbClr val="202327"/>
                </a:solidFill>
                <a:latin typeface="Calibri"/>
              </a:rPr>
              <a:t>A small helper program inside the car turns that into one short question, based on the reading and how experienced the driver is.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45136" y="1965960"/>
            <a:ext cx="1301419" cy="0"/>
          </a:xfrm>
          <a:prstGeom prst="line">
            <a:avLst/>
          </a:prstGeom>
          <a:ln w="31750">
            <a:solidFill>
              <a:srgbClr val="B9B2A6"/>
            </a:solidFill>
            <a:tailEnd type="triangle" w="med" len="med"/>
          </a:ln>
          <a:effectLst/>
        </p:spPr>
      </p:cxnSp>
      <p:sp>
        <p:nvSpPr>
          <p:cNvPr id="13" name="Oval 12"/>
          <p:cNvSpPr/>
          <p:nvPr/>
        </p:nvSpPr>
        <p:spPr>
          <a:xfrm>
            <a:off x="6819707" y="1325880"/>
            <a:ext cx="1280160" cy="1280160"/>
          </a:xfrm>
          <a:prstGeom prst="ellipse">
            <a:avLst/>
          </a:prstGeom>
          <a:solidFill>
            <a:srgbClr val="3F7A5C"/>
          </a:solidFill>
          <a:ln w="381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5845" y="2770632"/>
            <a:ext cx="2727883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3F7A5C"/>
                </a:solidFill>
                <a:latin typeface="Calibri"/>
              </a:rPr>
              <a:t>LOOK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5573" y="3136392"/>
            <a:ext cx="2508427" cy="769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 dirty="0">
                <a:solidFill>
                  <a:srgbClr val="202327"/>
                </a:solidFill>
                <a:latin typeface="Calibri"/>
              </a:rPr>
              <a:t>A more capable assistant elsewhere checks trusted repair information and writes a clear answer even over a weak connection.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73019" y="1965960"/>
            <a:ext cx="1301419" cy="0"/>
          </a:xfrm>
          <a:prstGeom prst="line">
            <a:avLst/>
          </a:prstGeom>
          <a:ln w="31750">
            <a:solidFill>
              <a:srgbClr val="B9B2A6"/>
            </a:solidFill>
            <a:tailEnd type="triangle" w="med" len="med"/>
          </a:ln>
          <a:effectLst/>
        </p:spPr>
      </p:cxnSp>
      <p:sp>
        <p:nvSpPr>
          <p:cNvPr id="17" name="Oval 16"/>
          <p:cNvSpPr/>
          <p:nvPr/>
        </p:nvSpPr>
        <p:spPr>
          <a:xfrm>
            <a:off x="9547590" y="1325880"/>
            <a:ext cx="1280160" cy="1280160"/>
          </a:xfrm>
          <a:prstGeom prst="ellipse">
            <a:avLst/>
          </a:prstGeom>
          <a:solidFill>
            <a:srgbClr val="D9A43E"/>
          </a:solidFill>
          <a:ln w="381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728" y="2770632"/>
            <a:ext cx="2727883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D9A43E"/>
                </a:solidFill>
                <a:latin typeface="Calibri"/>
              </a:rPr>
              <a:t>EXPLAIN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33456" y="3136392"/>
            <a:ext cx="2508427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 dirty="0">
                <a:solidFill>
                  <a:srgbClr val="202327"/>
                </a:solidFill>
                <a:latin typeface="Calibri"/>
              </a:rPr>
              <a:t>The driver sees the right response at the right moment an urgent alert, a gentle reminder, or just a helpful tip.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709160"/>
            <a:ext cx="5295747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9B2A6"/>
            </a:solidFill>
          </a:ln>
          <a:effectLst/>
        </p:spPr>
        <p:txBody>
          <a:bodyPr wrap="square" lIns="274320" tIns="128016" rIns="228600" bIns="91440" rtlCol="0" anchor="ctr"/>
          <a:lstStyle/>
          <a:p>
            <a:pPr algn="l"/>
            <a:r>
              <a:rPr sz="1350" b="1" dirty="0">
                <a:solidFill>
                  <a:srgbClr val="3B4C86"/>
                </a:solidFill>
              </a:rPr>
              <a:t>TESTED ON REAL ENGINE PROBLEMS</a:t>
            </a:r>
          </a:p>
          <a:p>
            <a:pPr>
              <a:spcBef>
                <a:spcPts val="300"/>
              </a:spcBef>
            </a:pPr>
            <a:r>
              <a:rPr sz="1250" b="0" dirty="0">
                <a:solidFill>
                  <a:srgbClr val="202327"/>
                </a:solidFill>
              </a:rPr>
              <a:t>Tried against recorded real</a:t>
            </a:r>
            <a:r>
              <a:rPr lang="en-CA" sz="1250" b="0" dirty="0">
                <a:solidFill>
                  <a:srgbClr val="202327"/>
                </a:solidFill>
              </a:rPr>
              <a:t> </a:t>
            </a:r>
            <a:r>
              <a:rPr sz="1250" b="0" dirty="0">
                <a:solidFill>
                  <a:srgbClr val="202327"/>
                </a:solidFill>
              </a:rPr>
              <a:t>world engine faults, not just made-up examples.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709160"/>
            <a:ext cx="82296" cy="914400"/>
          </a:xfrm>
          <a:prstGeom prst="rect">
            <a:avLst/>
          </a:prstGeom>
          <a:solidFill>
            <a:srgbClr val="3B4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255867" y="4709160"/>
            <a:ext cx="5295747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9B2A6"/>
            </a:solidFill>
          </a:ln>
          <a:effectLst/>
        </p:spPr>
        <p:txBody>
          <a:bodyPr wrap="square" lIns="274320" tIns="128016" rIns="228600" bIns="91440" rtlCol="0" anchor="ctr"/>
          <a:lstStyle/>
          <a:p>
            <a:pPr algn="l"/>
            <a:r>
              <a:rPr sz="1350" b="1" dirty="0">
                <a:solidFill>
                  <a:srgbClr val="3F7A5C"/>
                </a:solidFill>
              </a:rPr>
              <a:t>BUILT FOR EVERY DRIVER</a:t>
            </a:r>
          </a:p>
          <a:p>
            <a:pPr>
              <a:spcBef>
                <a:spcPts val="300"/>
              </a:spcBef>
            </a:pPr>
            <a:r>
              <a:rPr sz="1250" b="0" dirty="0">
                <a:solidFill>
                  <a:srgbClr val="202327"/>
                </a:solidFill>
              </a:rPr>
              <a:t>The exact same warning becomes a different, more useful message for each person.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55867" y="4709160"/>
            <a:ext cx="82296" cy="914400"/>
          </a:xfrm>
          <a:prstGeom prst="rect">
            <a:avLst/>
          </a:prstGeom>
          <a:solidFill>
            <a:srgbClr val="3F7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202327"/>
          </a:solidFill>
          <a:ln>
            <a:noFill/>
          </a:ln>
          <a:effectLst/>
        </p:spPr>
        <p:txBody>
          <a:bodyPr wrap="square" lIns="457200" rIns="457200" rtlCol="0" anchor="ctr"/>
          <a:lstStyle/>
          <a:p>
            <a:pPr algn="ctr"/>
            <a:r>
              <a:rPr sz="1700" b="1" i="1" dirty="0">
                <a:solidFill>
                  <a:srgbClr val="FFFFFF"/>
                </a:solidFill>
              </a:rPr>
              <a:t>A car that doesn't just warn you it explains, in a way that makes sense to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171</Words>
  <Application>Microsoft Macintosh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Jeffrey Yu</cp:lastModifiedBy>
  <cp:revision>3</cp:revision>
  <dcterms:created xsi:type="dcterms:W3CDTF">2013-01-27T09:14:16Z</dcterms:created>
  <dcterms:modified xsi:type="dcterms:W3CDTF">2026-08-17T02:14:38Z</dcterms:modified>
  <cp:category/>
</cp:coreProperties>
</file>