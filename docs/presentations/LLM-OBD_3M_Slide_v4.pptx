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"/>
  </p:notes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1"/>
    <p:restoredTop sz="94658"/>
  </p:normalViewPr>
  <p:slideViewPr>
    <p:cSldViewPr snapToGrid="0" snapToObjects="1">
      <p:cViewPr varScale="1">
        <p:scale>
          <a:sx n="120" d="100"/>
          <a:sy n="120" d="100"/>
        </p:scale>
        <p:origin x="448" y="18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F74B8CA-0264-D241-B8B2-1B89EEC5CC46}" type="datetimeFigureOut">
              <a:rPr lang="en-US" smtClean="0"/>
              <a:t>8/17/26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FC7D3C0-19AF-C341-8942-7F789DE9D28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934887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FC7D3C0-19AF-C341-8942-7F789DE9D287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427951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8/17/26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8/17/26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8/17/26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8/17/26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8/17/26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8/17/26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8/17/26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2EC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34440"/>
          </a:xfrm>
          <a:prstGeom prst="rect">
            <a:avLst/>
          </a:prstGeom>
          <a:solidFill>
            <a:srgbClr val="171F2A"/>
          </a:solidFill>
          <a:ln>
            <a:noFill/>
          </a:ln>
          <a:effectLst/>
        </p:spPr>
        <p:txBody>
          <a:bodyPr wrap="square" lIns="548640" rIns="548640" rtlCol="0" anchor="ctr"/>
          <a:lstStyle/>
          <a:p>
            <a:pPr algn="ctr"/>
            <a:r>
              <a:rPr sz="2500" b="1" dirty="0">
                <a:solidFill>
                  <a:srgbClr val="FFFFFF"/>
                </a:solidFill>
              </a:rPr>
              <a:t>WHAT IF YOUR CAR COULD EXPLAIN ITSELF</a:t>
            </a:r>
          </a:p>
          <a:p>
            <a:pPr algn="ctr">
              <a:spcBef>
                <a:spcPts val="200"/>
              </a:spcBef>
            </a:pPr>
            <a:r>
              <a:rPr sz="2500" b="1" dirty="0">
                <a:solidFill>
                  <a:srgbClr val="D9A43E"/>
                </a:solidFill>
              </a:rPr>
              <a:t>IN WORDS YOU ACTUALLY UNDERSTAND?</a:t>
            </a:r>
          </a:p>
        </p:txBody>
      </p:sp>
      <p:sp>
        <p:nvSpPr>
          <p:cNvPr id="4" name="Oval 3"/>
          <p:cNvSpPr/>
          <p:nvPr/>
        </p:nvSpPr>
        <p:spPr>
          <a:xfrm>
            <a:off x="1432521" y="1947672"/>
            <a:ext cx="1143000" cy="1143000"/>
          </a:xfrm>
          <a:prstGeom prst="ellipse">
            <a:avLst/>
          </a:prstGeom>
          <a:solidFill>
            <a:srgbClr val="243B55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Isosceles Triangle 4"/>
          <p:cNvSpPr/>
          <p:nvPr/>
        </p:nvSpPr>
        <p:spPr>
          <a:xfrm>
            <a:off x="1720556" y="2201577"/>
            <a:ext cx="566928" cy="502920"/>
          </a:xfrm>
          <a:prstGeom prst="triangle">
            <a:avLst/>
          </a:prstGeom>
          <a:solidFill>
            <a:srgbClr val="F6F2EC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r>
              <a:rPr sz="1600" b="1" dirty="0">
                <a:solidFill>
                  <a:srgbClr val="243B55"/>
                </a:solidFill>
              </a:rPr>
              <a:t>!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79" y="3227832"/>
            <a:ext cx="2727883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450" b="1" i="0">
                <a:solidFill>
                  <a:srgbClr val="243B55"/>
                </a:solidFill>
                <a:latin typeface="Calibri"/>
              </a:rPr>
              <a:t>NOTICE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49807" y="3566160"/>
            <a:ext cx="2508427" cy="9601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150" b="0" i="0" dirty="0">
                <a:solidFill>
                  <a:srgbClr val="202327"/>
                </a:solidFill>
                <a:latin typeface="Calibri"/>
              </a:rPr>
              <a:t>A warning light turns on. On its own, it doesn't say what's wrong or how urgent it is.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2630385" y="2519172"/>
            <a:ext cx="1475155" cy="0"/>
          </a:xfrm>
          <a:prstGeom prst="line">
            <a:avLst/>
          </a:prstGeom>
          <a:ln w="31750">
            <a:solidFill>
              <a:srgbClr val="D8D2C6"/>
            </a:solidFill>
            <a:tailEnd type="triangle" w="med" len="med"/>
          </a:ln>
          <a:effectLst/>
        </p:spPr>
      </p:cxnSp>
      <p:sp>
        <p:nvSpPr>
          <p:cNvPr id="9" name="Oval 8"/>
          <p:cNvSpPr/>
          <p:nvPr/>
        </p:nvSpPr>
        <p:spPr>
          <a:xfrm>
            <a:off x="4160404" y="1947672"/>
            <a:ext cx="1143000" cy="1143000"/>
          </a:xfrm>
          <a:prstGeom prst="ellipse">
            <a:avLst/>
          </a:prstGeom>
          <a:solidFill>
            <a:srgbClr val="C16B4C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Gear 6 9"/>
          <p:cNvSpPr/>
          <p:nvPr/>
        </p:nvSpPr>
        <p:spPr>
          <a:xfrm>
            <a:off x="4448440" y="2235708"/>
            <a:ext cx="566928" cy="566928"/>
          </a:xfrm>
          <a:prstGeom prst="gear6">
            <a:avLst/>
          </a:prstGeom>
          <a:solidFill>
            <a:srgbClr val="F6F2EC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3367962" y="3227832"/>
            <a:ext cx="2727883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450" b="1" i="0">
                <a:solidFill>
                  <a:srgbClr val="C16B4C"/>
                </a:solidFill>
                <a:latin typeface="Calibri"/>
              </a:rPr>
              <a:t>ASK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477690" y="3566160"/>
            <a:ext cx="2508427" cy="9601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150" b="0" i="0" dirty="0">
                <a:solidFill>
                  <a:srgbClr val="202327"/>
                </a:solidFill>
                <a:latin typeface="Calibri"/>
              </a:rPr>
              <a:t>A small onboard helper reads the sensors and how experienced the driver is, then asks one short question.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5358268" y="2519172"/>
            <a:ext cx="1475155" cy="0"/>
          </a:xfrm>
          <a:prstGeom prst="line">
            <a:avLst/>
          </a:prstGeom>
          <a:ln w="31750">
            <a:solidFill>
              <a:srgbClr val="D8D2C6"/>
            </a:solidFill>
            <a:tailEnd type="triangle" w="med" len="med"/>
          </a:ln>
          <a:effectLst/>
        </p:spPr>
      </p:cxnSp>
      <p:sp>
        <p:nvSpPr>
          <p:cNvPr id="14" name="Oval 13"/>
          <p:cNvSpPr/>
          <p:nvPr/>
        </p:nvSpPr>
        <p:spPr>
          <a:xfrm>
            <a:off x="6888287" y="1947672"/>
            <a:ext cx="1143000" cy="1143000"/>
          </a:xfrm>
          <a:prstGeom prst="ellipse">
            <a:avLst/>
          </a:prstGeom>
          <a:solidFill>
            <a:srgbClr val="6B8F71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Cloud 14"/>
          <p:cNvSpPr/>
          <p:nvPr/>
        </p:nvSpPr>
        <p:spPr>
          <a:xfrm>
            <a:off x="7116887" y="2290572"/>
            <a:ext cx="685800" cy="457200"/>
          </a:xfrm>
          <a:prstGeom prst="cloud">
            <a:avLst/>
          </a:prstGeom>
          <a:solidFill>
            <a:srgbClr val="F6F2EC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095845" y="3227832"/>
            <a:ext cx="2727883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450" b="1" i="0">
                <a:solidFill>
                  <a:srgbClr val="6B8F71"/>
                </a:solidFill>
                <a:latin typeface="Calibri"/>
              </a:rPr>
              <a:t>LOOK UP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05573" y="3566160"/>
            <a:ext cx="2508427" cy="35394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150" b="0" i="0" dirty="0">
                <a:solidFill>
                  <a:srgbClr val="202327"/>
                </a:solidFill>
                <a:latin typeface="Calibri"/>
              </a:rPr>
              <a:t>Trusted knowledge </a:t>
            </a:r>
            <a:r>
              <a:rPr lang="en-CA" sz="1150" b="0" i="0" dirty="0">
                <a:solidFill>
                  <a:srgbClr val="202327"/>
                </a:solidFill>
                <a:latin typeface="Calibri"/>
              </a:rPr>
              <a:t>base </a:t>
            </a:r>
            <a:r>
              <a:rPr sz="1150" b="0" i="0" dirty="0">
                <a:solidFill>
                  <a:srgbClr val="202327"/>
                </a:solidFill>
                <a:latin typeface="Calibri"/>
              </a:rPr>
              <a:t>is checked, to find a clear answer.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8086151" y="2519172"/>
            <a:ext cx="1475155" cy="0"/>
          </a:xfrm>
          <a:prstGeom prst="line">
            <a:avLst/>
          </a:prstGeom>
          <a:ln w="31750">
            <a:solidFill>
              <a:srgbClr val="D8D2C6"/>
            </a:solidFill>
            <a:tailEnd type="triangle" w="med" len="med"/>
          </a:ln>
          <a:effectLst/>
        </p:spPr>
      </p:cxnSp>
      <p:sp>
        <p:nvSpPr>
          <p:cNvPr id="19" name="Oval 18"/>
          <p:cNvSpPr/>
          <p:nvPr/>
        </p:nvSpPr>
        <p:spPr>
          <a:xfrm>
            <a:off x="9616170" y="1947672"/>
            <a:ext cx="1143000" cy="1143000"/>
          </a:xfrm>
          <a:prstGeom prst="ellipse">
            <a:avLst/>
          </a:prstGeom>
          <a:solidFill>
            <a:srgbClr val="D9A43E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ounded Rectangle 19"/>
          <p:cNvSpPr/>
          <p:nvPr/>
        </p:nvSpPr>
        <p:spPr>
          <a:xfrm>
            <a:off x="9876774" y="2299716"/>
            <a:ext cx="621792" cy="438912"/>
          </a:xfrm>
          <a:prstGeom prst="roundRect">
            <a:avLst/>
          </a:prstGeom>
          <a:solidFill>
            <a:srgbClr val="F6F2EC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8823728" y="3227832"/>
            <a:ext cx="2727883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450" b="1" i="0">
                <a:solidFill>
                  <a:srgbClr val="D9A43E"/>
                </a:solidFill>
                <a:latin typeface="Calibri"/>
              </a:rPr>
              <a:t>EXPLAIN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933456" y="3566160"/>
            <a:ext cx="2508427" cy="53091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150" b="0" i="0" dirty="0">
                <a:solidFill>
                  <a:srgbClr val="202327"/>
                </a:solidFill>
                <a:latin typeface="Calibri"/>
              </a:rPr>
              <a:t>The driver sees the right response at the right moment alert, reminder, or a simple tip.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40080" y="4526280"/>
            <a:ext cx="5295747" cy="86868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D8D2C6"/>
            </a:solidFill>
          </a:ln>
          <a:effectLst/>
        </p:spPr>
        <p:txBody>
          <a:bodyPr wrap="square" lIns="274320" tIns="118872" rIns="228600" bIns="91440" rtlCol="0" anchor="ctr"/>
          <a:lstStyle/>
          <a:p>
            <a:pPr algn="l"/>
            <a:r>
              <a:rPr sz="1300" b="1" dirty="0">
                <a:solidFill>
                  <a:srgbClr val="243B55"/>
                </a:solidFill>
              </a:rPr>
              <a:t>TESTED ON REAL ENGINE PROBLEMS</a:t>
            </a:r>
          </a:p>
          <a:p>
            <a:pPr>
              <a:spcBef>
                <a:spcPts val="300"/>
              </a:spcBef>
            </a:pPr>
            <a:r>
              <a:rPr sz="1200" b="0" dirty="0">
                <a:solidFill>
                  <a:srgbClr val="202327"/>
                </a:solidFill>
              </a:rPr>
              <a:t>Tried against recorded real-world engine faults, not just made-up examples.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40080" y="4526280"/>
            <a:ext cx="82296" cy="868680"/>
          </a:xfrm>
          <a:prstGeom prst="rect">
            <a:avLst/>
          </a:prstGeom>
          <a:solidFill>
            <a:srgbClr val="243B55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ounded Rectangle 24"/>
          <p:cNvSpPr/>
          <p:nvPr/>
        </p:nvSpPr>
        <p:spPr>
          <a:xfrm>
            <a:off x="6255867" y="4526280"/>
            <a:ext cx="5295747" cy="86868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D8D2C6"/>
            </a:solidFill>
          </a:ln>
          <a:effectLst/>
        </p:spPr>
        <p:txBody>
          <a:bodyPr wrap="square" lIns="274320" tIns="118872" rIns="228600" bIns="91440" rtlCol="0" anchor="ctr"/>
          <a:lstStyle/>
          <a:p>
            <a:pPr algn="l"/>
            <a:r>
              <a:rPr sz="1300" b="1" dirty="0">
                <a:solidFill>
                  <a:srgbClr val="6B8F71"/>
                </a:solidFill>
              </a:rPr>
              <a:t>BUILT FOR EVERY DRIVER</a:t>
            </a:r>
          </a:p>
          <a:p>
            <a:pPr>
              <a:spcBef>
                <a:spcPts val="300"/>
              </a:spcBef>
            </a:pPr>
            <a:r>
              <a:rPr sz="1200" b="0" dirty="0">
                <a:solidFill>
                  <a:srgbClr val="202327"/>
                </a:solidFill>
              </a:rPr>
              <a:t>The exact same warning becomes a different, more useful message for each </a:t>
            </a:r>
            <a:r>
              <a:rPr lang="en-CA" sz="1200" b="0" dirty="0">
                <a:solidFill>
                  <a:srgbClr val="202327"/>
                </a:solidFill>
              </a:rPr>
              <a:t>driver</a:t>
            </a:r>
            <a:r>
              <a:rPr sz="1200" b="0" dirty="0">
                <a:solidFill>
                  <a:srgbClr val="202327"/>
                </a:solidFill>
              </a:rPr>
              <a:t>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255867" y="4526280"/>
            <a:ext cx="82296" cy="868680"/>
          </a:xfrm>
          <a:prstGeom prst="rect">
            <a:avLst/>
          </a:prstGeom>
          <a:solidFill>
            <a:srgbClr val="6B8F71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0" y="5943600"/>
            <a:ext cx="12191695" cy="914400"/>
          </a:xfrm>
          <a:prstGeom prst="rect">
            <a:avLst/>
          </a:prstGeom>
          <a:solidFill>
            <a:srgbClr val="202327"/>
          </a:solidFill>
          <a:ln>
            <a:noFill/>
          </a:ln>
          <a:effectLst/>
        </p:spPr>
        <p:txBody>
          <a:bodyPr wrap="square" lIns="457200" rIns="457200" rtlCol="0" anchor="ctr"/>
          <a:lstStyle/>
          <a:p>
            <a:pPr algn="ctr"/>
            <a:r>
              <a:rPr sz="1700" b="1" i="1" dirty="0">
                <a:solidFill>
                  <a:srgbClr val="FFFFFF"/>
                </a:solidFill>
              </a:rPr>
              <a:t>A car that doesn't just warn you it explains, in a way that makes sense to you.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576</TotalTime>
  <Words>147</Words>
  <Application>Microsoft Macintosh PowerPoint</Application>
  <PresentationFormat>Widescreen</PresentationFormat>
  <Paragraphs>17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Arial</vt:lpstr>
      <vt:lpstr>Calibri</vt:lpstr>
      <vt:lpstr>Office Theme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Jeffrey Yu</cp:lastModifiedBy>
  <cp:revision>2</cp:revision>
  <dcterms:created xsi:type="dcterms:W3CDTF">2013-01-27T09:14:16Z</dcterms:created>
  <dcterms:modified xsi:type="dcterms:W3CDTF">2026-08-18T12:16:44Z</dcterms:modified>
  <cp:category/>
</cp:coreProperties>
</file>